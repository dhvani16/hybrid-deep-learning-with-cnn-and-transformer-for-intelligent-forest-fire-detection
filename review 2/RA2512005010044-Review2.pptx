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58" r:id="rId5"/>
    <p:sldId id="267" r:id="rId6"/>
    <p:sldId id="268" r:id="rId7"/>
    <p:sldId id="259" r:id="rId8"/>
    <p:sldId id="269" r:id="rId9"/>
    <p:sldId id="260" r:id="rId10"/>
    <p:sldId id="270" r:id="rId11"/>
    <p:sldId id="271" r:id="rId12"/>
    <p:sldId id="261" r:id="rId13"/>
    <p:sldId id="272" r:id="rId14"/>
    <p:sldId id="262" r:id="rId15"/>
    <p:sldId id="26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58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el, Dhvani" userId="bade4e20-56a7-4987-9b57-91f4f3638932" providerId="ADAL" clId="{C1C67717-BD8A-582E-897C-1D3D867DE9EC}"/>
    <pc:docChg chg="undo custSel addSld delSld modSld">
      <pc:chgData name="Patel, Dhvani" userId="bade4e20-56a7-4987-9b57-91f4f3638932" providerId="ADAL" clId="{C1C67717-BD8A-582E-897C-1D3D867DE9EC}" dt="2026-10-05T08:03:05.020" v="3580" actId="20577"/>
      <pc:docMkLst>
        <pc:docMk/>
      </pc:docMkLst>
      <pc:sldChg chg="modSp mod">
        <pc:chgData name="Patel, Dhvani" userId="bade4e20-56a7-4987-9b57-91f4f3638932" providerId="ADAL" clId="{C1C67717-BD8A-582E-897C-1D3D867DE9EC}" dt="2026-10-01T06:36:48.657" v="160" actId="20577"/>
        <pc:sldMkLst>
          <pc:docMk/>
          <pc:sldMk cId="0" sldId="256"/>
        </pc:sldMkLst>
        <pc:spChg chg="mod">
          <ac:chgData name="Patel, Dhvani" userId="bade4e20-56a7-4987-9b57-91f4f3638932" providerId="ADAL" clId="{C1C67717-BD8A-582E-897C-1D3D867DE9EC}" dt="2026-10-01T06:35:35.828" v="92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01T06:36:48.657" v="160" actId="20577"/>
          <ac:spMkLst>
            <pc:docMk/>
            <pc:sldMk cId="0" sldId="256"/>
            <ac:spMk id="10" creationId="{00000000-0000-0000-0000-000000000000}"/>
          </ac:spMkLst>
        </pc:spChg>
      </pc:sldChg>
      <pc:sldChg chg="addSp delSp modSp mod">
        <pc:chgData name="Patel, Dhvani" userId="bade4e20-56a7-4987-9b57-91f4f3638932" providerId="ADAL" clId="{C1C67717-BD8A-582E-897C-1D3D867DE9EC}" dt="2026-10-01T08:58:17.730" v="250" actId="1076"/>
        <pc:sldMkLst>
          <pc:docMk/>
          <pc:sldMk cId="0" sldId="257"/>
        </pc:sldMkLst>
        <pc:spChg chg="mod">
          <ac:chgData name="Patel, Dhvani" userId="bade4e20-56a7-4987-9b57-91f4f3638932" providerId="ADAL" clId="{C1C67717-BD8A-582E-897C-1D3D867DE9EC}" dt="2026-10-01T08:51:23.012" v="164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01T08:57:33.814" v="242" actId="1076"/>
          <ac:spMkLst>
            <pc:docMk/>
            <pc:sldMk cId="0" sldId="257"/>
            <ac:spMk id="10" creationId="{00000000-0000-0000-0000-000000000000}"/>
          </ac:spMkLst>
        </pc:spChg>
        <pc:spChg chg="add mod">
          <ac:chgData name="Patel, Dhvani" userId="bade4e20-56a7-4987-9b57-91f4f3638932" providerId="ADAL" clId="{C1C67717-BD8A-582E-897C-1D3D867DE9EC}" dt="2026-10-01T08:54:24.232" v="206"/>
          <ac:spMkLst>
            <pc:docMk/>
            <pc:sldMk cId="0" sldId="257"/>
            <ac:spMk id="11" creationId="{0111E5DF-386A-FC3F-3332-2A35AE553C79}"/>
          </ac:spMkLst>
        </pc:spChg>
        <pc:spChg chg="mod">
          <ac:chgData name="Patel, Dhvani" userId="bade4e20-56a7-4987-9b57-91f4f3638932" providerId="ADAL" clId="{C1C67717-BD8A-582E-897C-1D3D867DE9EC}" dt="2026-10-01T08:57:58.628" v="245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01T08:56:24.847" v="228" actId="1076"/>
          <ac:spMkLst>
            <pc:docMk/>
            <pc:sldMk cId="0" sldId="257"/>
            <ac:spMk id="14" creationId="{00000000-0000-0000-0000-000000000000}"/>
          </ac:spMkLst>
        </pc:spChg>
        <pc:spChg chg="add mod">
          <ac:chgData name="Patel, Dhvani" userId="bade4e20-56a7-4987-9b57-91f4f3638932" providerId="ADAL" clId="{C1C67717-BD8A-582E-897C-1D3D867DE9EC}" dt="2026-10-01T08:55:19.899" v="216" actId="1076"/>
          <ac:spMkLst>
            <pc:docMk/>
            <pc:sldMk cId="0" sldId="257"/>
            <ac:spMk id="19" creationId="{734F4CA9-F471-0CD3-211C-CB494443D5C1}"/>
          </ac:spMkLst>
        </pc:spChg>
        <pc:spChg chg="add mod">
          <ac:chgData name="Patel, Dhvani" userId="bade4e20-56a7-4987-9b57-91f4f3638932" providerId="ADAL" clId="{C1C67717-BD8A-582E-897C-1D3D867DE9EC}" dt="2026-10-01T08:57:24.789" v="241"/>
          <ac:spMkLst>
            <pc:docMk/>
            <pc:sldMk cId="0" sldId="257"/>
            <ac:spMk id="24" creationId="{3F95BB73-E54C-3F1C-055D-454E0CF93632}"/>
          </ac:spMkLst>
        </pc:spChg>
        <pc:spChg chg="add mod">
          <ac:chgData name="Patel, Dhvani" userId="bade4e20-56a7-4987-9b57-91f4f3638932" providerId="ADAL" clId="{C1C67717-BD8A-582E-897C-1D3D867DE9EC}" dt="2026-10-01T08:56:52.815" v="231" actId="1076"/>
          <ac:spMkLst>
            <pc:docMk/>
            <pc:sldMk cId="0" sldId="257"/>
            <ac:spMk id="26" creationId="{C7FF1233-8C14-D720-B7D8-2B765D9D140E}"/>
          </ac:spMkLst>
        </pc:spChg>
        <pc:picChg chg="mod">
          <ac:chgData name="Patel, Dhvani" userId="bade4e20-56a7-4987-9b57-91f4f3638932" providerId="ADAL" clId="{C1C67717-BD8A-582E-897C-1D3D867DE9EC}" dt="2026-10-01T08:55:07.585" v="214" actId="14100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Patel, Dhvani" userId="bade4e20-56a7-4987-9b57-91f4f3638932" providerId="ADAL" clId="{C1C67717-BD8A-582E-897C-1D3D867DE9EC}" dt="2026-10-01T08:58:17.730" v="250" actId="1076"/>
          <ac:picMkLst>
            <pc:docMk/>
            <pc:sldMk cId="0" sldId="257"/>
            <ac:picMk id="7" creationId="{65142827-88EB-F27A-0ED6-6E2CC64DB4D1}"/>
          </ac:picMkLst>
        </pc:picChg>
        <pc:picChg chg="add mod">
          <ac:chgData name="Patel, Dhvani" userId="bade4e20-56a7-4987-9b57-91f4f3638932" providerId="ADAL" clId="{C1C67717-BD8A-582E-897C-1D3D867DE9EC}" dt="2026-10-01T08:56:04.496" v="224" actId="1076"/>
          <ac:picMkLst>
            <pc:docMk/>
            <pc:sldMk cId="0" sldId="257"/>
            <ac:picMk id="23" creationId="{6E6E8316-7465-8383-FCC4-2C33327B143D}"/>
          </ac:picMkLst>
        </pc:picChg>
      </pc:sldChg>
      <pc:sldChg chg="delSp modSp mod">
        <pc:chgData name="Patel, Dhvani" userId="bade4e20-56a7-4987-9b57-91f4f3638932" providerId="ADAL" clId="{C1C67717-BD8A-582E-897C-1D3D867DE9EC}" dt="2026-10-05T08:03:05.020" v="3580" actId="20577"/>
        <pc:sldMkLst>
          <pc:docMk/>
          <pc:sldMk cId="0" sldId="258"/>
        </pc:sldMkLst>
        <pc:spChg chg="mod">
          <ac:chgData name="Patel, Dhvani" userId="bade4e20-56a7-4987-9b57-91f4f3638932" providerId="ADAL" clId="{C1C67717-BD8A-582E-897C-1D3D867DE9EC}" dt="2026-10-01T09:05:43.247" v="295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01T09:05:23.980" v="293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02T09:07:00.671" v="3556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atel, Dhvani" userId="bade4e20-56a7-4987-9b57-91f4f3638932" providerId="ADAL" clId="{C1C67717-BD8A-582E-897C-1D3D867DE9EC}" dt="2026-10-05T08:03:05.020" v="3580" actId="20577"/>
          <ac:spMkLst>
            <pc:docMk/>
            <pc:sldMk cId="0" sldId="258"/>
            <ac:spMk id="12" creationId="{00000000-0000-0000-0000-000000000000}"/>
          </ac:spMkLst>
        </pc:spChg>
      </pc:sldChg>
      <pc:sldChg chg="delSp modSp mod">
        <pc:chgData name="Patel, Dhvani" userId="bade4e20-56a7-4987-9b57-91f4f3638932" providerId="ADAL" clId="{C1C67717-BD8A-582E-897C-1D3D867DE9EC}" dt="2026-10-02T14:04:44.798" v="3573" actId="20577"/>
        <pc:sldMkLst>
          <pc:docMk/>
          <pc:sldMk cId="0" sldId="259"/>
        </pc:sldMkLst>
        <pc:spChg chg="mod">
          <ac:chgData name="Patel, Dhvani" userId="bade4e20-56a7-4987-9b57-91f4f3638932" providerId="ADAL" clId="{C1C67717-BD8A-582E-897C-1D3D867DE9EC}" dt="2026-10-02T14:04:44.798" v="3573" actId="20577"/>
          <ac:spMkLst>
            <pc:docMk/>
            <pc:sldMk cId="0" sldId="259"/>
            <ac:spMk id="8" creationId="{00000000-0000-0000-0000-000000000000}"/>
          </ac:spMkLst>
        </pc:spChg>
      </pc:sldChg>
      <pc:sldChg chg="delSp modSp mod">
        <pc:chgData name="Patel, Dhvani" userId="bade4e20-56a7-4987-9b57-91f4f3638932" providerId="ADAL" clId="{C1C67717-BD8A-582E-897C-1D3D867DE9EC}" dt="2026-10-01T09:39:43.652" v="1212" actId="20577"/>
        <pc:sldMkLst>
          <pc:docMk/>
          <pc:sldMk cId="0" sldId="260"/>
        </pc:sldMkLst>
        <pc:spChg chg="mod">
          <ac:chgData name="Patel, Dhvani" userId="bade4e20-56a7-4987-9b57-91f4f3638932" providerId="ADAL" clId="{C1C67717-BD8A-582E-897C-1D3D867DE9EC}" dt="2026-10-01T09:39:43.652" v="1212" actId="20577"/>
          <ac:spMkLst>
            <pc:docMk/>
            <pc:sldMk cId="0" sldId="260"/>
            <ac:spMk id="8" creationId="{00000000-0000-0000-0000-000000000000}"/>
          </ac:spMkLst>
        </pc:spChg>
      </pc:sldChg>
      <pc:sldChg chg="addSp delSp modSp mod">
        <pc:chgData name="Patel, Dhvani" userId="bade4e20-56a7-4987-9b57-91f4f3638932" providerId="ADAL" clId="{C1C67717-BD8A-582E-897C-1D3D867DE9EC}" dt="2026-10-02T08:51:10.375" v="2723" actId="6549"/>
        <pc:sldMkLst>
          <pc:docMk/>
          <pc:sldMk cId="0" sldId="261"/>
        </pc:sldMkLst>
        <pc:spChg chg="mod">
          <ac:chgData name="Patel, Dhvani" userId="bade4e20-56a7-4987-9b57-91f4f3638932" providerId="ADAL" clId="{C1C67717-BD8A-582E-897C-1D3D867DE9EC}" dt="2026-10-02T08:51:10.375" v="2723" actId="6549"/>
          <ac:spMkLst>
            <pc:docMk/>
            <pc:sldMk cId="0" sldId="261"/>
            <ac:spMk id="8" creationId="{00000000-0000-0000-0000-000000000000}"/>
          </ac:spMkLst>
        </pc:spChg>
      </pc:sldChg>
      <pc:sldChg chg="delSp modSp mod">
        <pc:chgData name="Patel, Dhvani" userId="bade4e20-56a7-4987-9b57-91f4f3638932" providerId="ADAL" clId="{C1C67717-BD8A-582E-897C-1D3D867DE9EC}" dt="2026-10-02T09:06:10.672" v="3554" actId="313"/>
        <pc:sldMkLst>
          <pc:docMk/>
          <pc:sldMk cId="0" sldId="262"/>
        </pc:sldMkLst>
        <pc:spChg chg="mod">
          <ac:chgData name="Patel, Dhvani" userId="bade4e20-56a7-4987-9b57-91f4f3638932" providerId="ADAL" clId="{C1C67717-BD8A-582E-897C-1D3D867DE9EC}" dt="2026-10-02T09:06:10.672" v="3554" actId="313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add mod">
        <pc:chgData name="Patel, Dhvani" userId="bade4e20-56a7-4987-9b57-91f4f3638932" providerId="ADAL" clId="{C1C67717-BD8A-582E-897C-1D3D867DE9EC}" dt="2026-10-01T09:00:38.667" v="287" actId="20577"/>
        <pc:sldMkLst>
          <pc:docMk/>
          <pc:sldMk cId="433430197" sldId="265"/>
        </pc:sldMkLst>
        <pc:spChg chg="mod">
          <ac:chgData name="Patel, Dhvani" userId="bade4e20-56a7-4987-9b57-91f4f3638932" providerId="ADAL" clId="{C1C67717-BD8A-582E-897C-1D3D867DE9EC}" dt="2026-10-01T08:58:45.052" v="251"/>
          <ac:spMkLst>
            <pc:docMk/>
            <pc:sldMk cId="433430197" sldId="265"/>
            <ac:spMk id="6" creationId="{155DF109-0798-7338-45E1-C492C271E56D}"/>
          </ac:spMkLst>
        </pc:spChg>
        <pc:spChg chg="mod">
          <ac:chgData name="Patel, Dhvani" userId="bade4e20-56a7-4987-9b57-91f4f3638932" providerId="ADAL" clId="{C1C67717-BD8A-582E-897C-1D3D867DE9EC}" dt="2026-10-01T08:59:39.852" v="269"/>
          <ac:spMkLst>
            <pc:docMk/>
            <pc:sldMk cId="433430197" sldId="265"/>
            <ac:spMk id="10" creationId="{9ED220B2-9719-6FE6-DA17-712B8A0E884A}"/>
          </ac:spMkLst>
        </pc:spChg>
        <pc:spChg chg="mod">
          <ac:chgData name="Patel, Dhvani" userId="bade4e20-56a7-4987-9b57-91f4f3638932" providerId="ADAL" clId="{C1C67717-BD8A-582E-897C-1D3D867DE9EC}" dt="2026-10-01T08:59:48.557" v="270"/>
          <ac:spMkLst>
            <pc:docMk/>
            <pc:sldMk cId="433430197" sldId="265"/>
            <ac:spMk id="14" creationId="{AF6C31E2-00C9-3AE6-72FF-C49C34344604}"/>
          </ac:spMkLst>
        </pc:spChg>
        <pc:spChg chg="mod">
          <ac:chgData name="Patel, Dhvani" userId="bade4e20-56a7-4987-9b57-91f4f3638932" providerId="ADAL" clId="{C1C67717-BD8A-582E-897C-1D3D867DE9EC}" dt="2026-10-01T09:00:38.667" v="287" actId="20577"/>
          <ac:spMkLst>
            <pc:docMk/>
            <pc:sldMk cId="433430197" sldId="265"/>
            <ac:spMk id="18" creationId="{706217F0-10AC-F50A-9E60-9809881366C2}"/>
          </ac:spMkLst>
        </pc:spChg>
        <pc:picChg chg="add mod">
          <ac:chgData name="Patel, Dhvani" userId="bade4e20-56a7-4987-9b57-91f4f3638932" providerId="ADAL" clId="{C1C67717-BD8A-582E-897C-1D3D867DE9EC}" dt="2026-10-01T08:59:13.481" v="257" actId="1076"/>
          <ac:picMkLst>
            <pc:docMk/>
            <pc:sldMk cId="433430197" sldId="265"/>
            <ac:picMk id="7" creationId="{6AD9EE40-B32F-8413-7F8A-B675DD3078B3}"/>
          </ac:picMkLst>
        </pc:picChg>
        <pc:picChg chg="add mod">
          <ac:chgData name="Patel, Dhvani" userId="bade4e20-56a7-4987-9b57-91f4f3638932" providerId="ADAL" clId="{C1C67717-BD8A-582E-897C-1D3D867DE9EC}" dt="2026-10-01T09:00:06.214" v="275" actId="1076"/>
          <ac:picMkLst>
            <pc:docMk/>
            <pc:sldMk cId="433430197" sldId="265"/>
            <ac:picMk id="11" creationId="{19A3C219-EBF3-C5E4-2E6B-714A603573B1}"/>
          </ac:picMkLst>
        </pc:picChg>
      </pc:sldChg>
      <pc:sldChg chg="modSp add mod">
        <pc:chgData name="Patel, Dhvani" userId="bade4e20-56a7-4987-9b57-91f4f3638932" providerId="ADAL" clId="{C1C67717-BD8A-582E-897C-1D3D867DE9EC}" dt="2026-10-02T09:07:41.124" v="3561" actId="123"/>
        <pc:sldMkLst>
          <pc:docMk/>
          <pc:sldMk cId="3985847274" sldId="267"/>
        </pc:sldMkLst>
        <pc:spChg chg="mod">
          <ac:chgData name="Patel, Dhvani" userId="bade4e20-56a7-4987-9b57-91f4f3638932" providerId="ADAL" clId="{C1C67717-BD8A-582E-897C-1D3D867DE9EC}" dt="2026-10-02T09:07:35.437" v="3559" actId="255"/>
          <ac:spMkLst>
            <pc:docMk/>
            <pc:sldMk cId="3985847274" sldId="267"/>
            <ac:spMk id="11" creationId="{115D2D8F-B3BC-C73B-CAAB-0493631B3EAA}"/>
          </ac:spMkLst>
        </pc:spChg>
        <pc:spChg chg="mod">
          <ac:chgData name="Patel, Dhvani" userId="bade4e20-56a7-4987-9b57-91f4f3638932" providerId="ADAL" clId="{C1C67717-BD8A-582E-897C-1D3D867DE9EC}" dt="2026-10-02T09:07:41.124" v="3561" actId="123"/>
          <ac:spMkLst>
            <pc:docMk/>
            <pc:sldMk cId="3985847274" sldId="267"/>
            <ac:spMk id="12" creationId="{16DF7502-5E0A-2E40-210A-D85C9E17037C}"/>
          </ac:spMkLst>
        </pc:spChg>
      </pc:sldChg>
      <pc:sldChg chg="modSp add mod">
        <pc:chgData name="Patel, Dhvani" userId="bade4e20-56a7-4987-9b57-91f4f3638932" providerId="ADAL" clId="{C1C67717-BD8A-582E-897C-1D3D867DE9EC}" dt="2026-10-02T09:07:58.842" v="3566" actId="123"/>
        <pc:sldMkLst>
          <pc:docMk/>
          <pc:sldMk cId="4290356037" sldId="268"/>
        </pc:sldMkLst>
        <pc:spChg chg="mod">
          <ac:chgData name="Patel, Dhvani" userId="bade4e20-56a7-4987-9b57-91f4f3638932" providerId="ADAL" clId="{C1C67717-BD8A-582E-897C-1D3D867DE9EC}" dt="2026-10-02T09:07:51.253" v="3562" actId="255"/>
          <ac:spMkLst>
            <pc:docMk/>
            <pc:sldMk cId="4290356037" sldId="268"/>
            <ac:spMk id="11" creationId="{F7154234-7F90-F0EA-B76F-8B306CA51F5E}"/>
          </ac:spMkLst>
        </pc:spChg>
        <pc:spChg chg="mod">
          <ac:chgData name="Patel, Dhvani" userId="bade4e20-56a7-4987-9b57-91f4f3638932" providerId="ADAL" clId="{C1C67717-BD8A-582E-897C-1D3D867DE9EC}" dt="2026-10-02T09:07:58.842" v="3566" actId="123"/>
          <ac:spMkLst>
            <pc:docMk/>
            <pc:sldMk cId="4290356037" sldId="268"/>
            <ac:spMk id="12" creationId="{D5FC91B2-A380-22BC-63A1-E8796719248A}"/>
          </ac:spMkLst>
        </pc:spChg>
      </pc:sldChg>
      <pc:sldChg chg="modSp add mod">
        <pc:chgData name="Patel, Dhvani" userId="bade4e20-56a7-4987-9b57-91f4f3638932" providerId="ADAL" clId="{C1C67717-BD8A-582E-897C-1D3D867DE9EC}" dt="2026-10-02T14:05:08.894" v="3577" actId="20577"/>
        <pc:sldMkLst>
          <pc:docMk/>
          <pc:sldMk cId="643371966" sldId="269"/>
        </pc:sldMkLst>
        <pc:spChg chg="mod">
          <ac:chgData name="Patel, Dhvani" userId="bade4e20-56a7-4987-9b57-91f4f3638932" providerId="ADAL" clId="{C1C67717-BD8A-582E-897C-1D3D867DE9EC}" dt="2026-10-02T14:05:08.894" v="3577" actId="20577"/>
          <ac:spMkLst>
            <pc:docMk/>
            <pc:sldMk cId="643371966" sldId="269"/>
            <ac:spMk id="8" creationId="{134C7768-29BD-99D9-850F-8F18A052CCB3}"/>
          </ac:spMkLst>
        </pc:spChg>
      </pc:sldChg>
      <pc:sldChg chg="modSp add mod">
        <pc:chgData name="Patel, Dhvani" userId="bade4e20-56a7-4987-9b57-91f4f3638932" providerId="ADAL" clId="{C1C67717-BD8A-582E-897C-1D3D867DE9EC}" dt="2026-10-02T14:05:25.094" v="3578" actId="33524"/>
        <pc:sldMkLst>
          <pc:docMk/>
          <pc:sldMk cId="3505424199" sldId="270"/>
        </pc:sldMkLst>
        <pc:spChg chg="mod">
          <ac:chgData name="Patel, Dhvani" userId="bade4e20-56a7-4987-9b57-91f4f3638932" providerId="ADAL" clId="{C1C67717-BD8A-582E-897C-1D3D867DE9EC}" dt="2026-10-02T14:05:25.094" v="3578" actId="33524"/>
          <ac:spMkLst>
            <pc:docMk/>
            <pc:sldMk cId="3505424199" sldId="270"/>
            <ac:spMk id="8" creationId="{D10D4419-6E4D-8A5D-804A-CF659C33D79D}"/>
          </ac:spMkLst>
        </pc:spChg>
      </pc:sldChg>
      <pc:sldChg chg="modSp add mod">
        <pc:chgData name="Patel, Dhvani" userId="bade4e20-56a7-4987-9b57-91f4f3638932" providerId="ADAL" clId="{C1C67717-BD8A-582E-897C-1D3D867DE9EC}" dt="2026-10-01T09:49:27.478" v="1819" actId="6549"/>
        <pc:sldMkLst>
          <pc:docMk/>
          <pc:sldMk cId="556598732" sldId="271"/>
        </pc:sldMkLst>
        <pc:spChg chg="mod">
          <ac:chgData name="Patel, Dhvani" userId="bade4e20-56a7-4987-9b57-91f4f3638932" providerId="ADAL" clId="{C1C67717-BD8A-582E-897C-1D3D867DE9EC}" dt="2026-10-01T09:49:27.478" v="1819" actId="6549"/>
          <ac:spMkLst>
            <pc:docMk/>
            <pc:sldMk cId="556598732" sldId="271"/>
            <ac:spMk id="8" creationId="{AF8E4369-408A-CF73-A3A8-600225E745A3}"/>
          </ac:spMkLst>
        </pc:spChg>
      </pc:sldChg>
      <pc:sldChg chg="modSp add mod">
        <pc:chgData name="Patel, Dhvani" userId="bade4e20-56a7-4987-9b57-91f4f3638932" providerId="ADAL" clId="{C1C67717-BD8A-582E-897C-1D3D867DE9EC}" dt="2026-10-02T08:56:09.234" v="3419" actId="6549"/>
        <pc:sldMkLst>
          <pc:docMk/>
          <pc:sldMk cId="3478874994" sldId="272"/>
        </pc:sldMkLst>
        <pc:spChg chg="mod">
          <ac:chgData name="Patel, Dhvani" userId="bade4e20-56a7-4987-9b57-91f4f3638932" providerId="ADAL" clId="{C1C67717-BD8A-582E-897C-1D3D867DE9EC}" dt="2026-10-02T08:56:09.234" v="3419" actId="6549"/>
          <ac:spMkLst>
            <pc:docMk/>
            <pc:sldMk cId="3478874994" sldId="272"/>
            <ac:spMk id="8" creationId="{FC0AAF58-555C-7C70-428B-56271036EE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4792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E264C-971D-F324-CC3E-4AC2B4A7D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400C7-8E19-D518-537C-5C8B1DE47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B2B43-5C39-5814-64ED-0F87B2BF8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188D5-ABC0-8B03-402F-9F75B88640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35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2C3C8-F18B-01D7-13C8-40B6F1B9E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28D01-0ED3-D39B-32F4-7075EF3A8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C9248-42AF-7228-93B9-6A9F4C655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91BFF-B3F7-C406-3F4D-A43B1431D8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95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3ABEC-F16D-98DD-5F0D-B1A469EB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BCC53-37E8-0BCA-6831-20DC94F91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7F1AB-A5F8-5F14-C059-33E6EBF65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5ED60-5094-CCE6-51F5-1CC08F2F7A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22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71B59-D7C1-0A99-7BA2-0E30DDE9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CCF63-BE6F-CE50-B660-D43115690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4D129-B6C1-652C-BDD1-E1C4114B4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41259-6EA9-CC9E-00D4-D0DC610D0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46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776A1-A8AD-C4A7-9708-83CAD019C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EB44D-B969-7853-DA8E-38CBB2066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6C0E3-23DF-109A-CC12-61B86FE40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30387-9152-77D8-B18B-56BE84427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005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85FE2-12FC-2467-7B30-54E765E52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41014-AB63-4577-7FB4-0EC8E84C8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A5CD7-2466-18B7-BD70-DA280D0D4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8C672-72D8-994B-AC7F-4568285E2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07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BD96F-BAF6-7A3A-58C2-3A5B1846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801CA-C01A-A75E-6D22-9656F9EB5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313F8-747F-04A8-E35D-2D44149AD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253F2-F43A-2FB0-361A-54D443DEA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00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RM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51560"/>
            <a:ext cx="11277295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ppt_review2/srm_logo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10528"/>
            <a:ext cx="868680" cy="339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6492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  |  21CSC601T Case Studies  |  Review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1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14400" y="1508760"/>
            <a:ext cx="777240" cy="777240"/>
          </a:xfrm>
          <a:prstGeom prst="ellipse">
            <a:avLst/>
          </a:prstGeom>
          <a:solidFill>
            <a:srgbClr val="1A4E9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_review2/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171084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21CSC601T  •  CASE STUDIES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834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Deep Learning with CNN &amp; Transformer for Intelligent Forest Fire Detection 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14400" y="425196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914400" y="44805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Dhvani Patel — RA2512005010044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</a:t>
            </a:r>
            <a:r>
              <a:rPr lang="en-US" sz="1300" dirty="0" err="1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Pandiaraj</a:t>
            </a:r>
            <a:r>
              <a:rPr lang="en-US" sz="130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A., Department of Computing Technologies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  •  October 2026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623560"/>
            <a:ext cx="1920240" cy="89154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ppt_review2/srm_logo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83580"/>
            <a:ext cx="146304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75488" cy="475488"/>
          </a:xfrm>
          <a:prstGeom prst="ellipse">
            <a:avLst/>
          </a:prstGeom>
          <a:solidFill>
            <a:srgbClr val="12417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ppt_review2/icons/dep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1540947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1732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&amp; Multifaceted View of the Case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234440" y="196596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AutoNum type="arabicPeriod"/>
            </a:pPr>
            <a:r>
              <a:rPr lang="en-US" sz="1600" dirty="0"/>
              <a:t>Problem statement: why forest fire detection is critical</a:t>
            </a:r>
          </a:p>
          <a:p>
            <a:pPr marL="342900" indent="-342900">
              <a:buAutoNum type="arabicPeriod"/>
            </a:pPr>
            <a:r>
              <a:rPr lang="en-US" sz="1600" dirty="0"/>
              <a:t>Research gap: limitations of CNN-only and Transformer-only approaches</a:t>
            </a:r>
          </a:p>
          <a:p>
            <a:pPr marL="342900" indent="-342900">
              <a:buAutoNum type="arabicPeriod"/>
            </a:pPr>
            <a:r>
              <a:rPr lang="en-US" sz="1600" dirty="0"/>
              <a:t>Hypothesis: hybrid architecture combining both paradigms</a:t>
            </a:r>
          </a:p>
        </p:txBody>
      </p:sp>
      <p:sp>
        <p:nvSpPr>
          <p:cNvPr id="12" name="Shape 8"/>
          <p:cNvSpPr/>
          <p:nvPr/>
        </p:nvSpPr>
        <p:spPr>
          <a:xfrm>
            <a:off x="548640" y="2991343"/>
            <a:ext cx="475488" cy="475488"/>
          </a:xfrm>
          <a:prstGeom prst="ellipse">
            <a:avLst/>
          </a:prstGeom>
          <a:solidFill>
            <a:srgbClr val="1241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 txBox="1"/>
          <p:nvPr/>
        </p:nvSpPr>
        <p:spPr>
          <a:xfrm>
            <a:off x="1234440" y="2990626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Gathered from Sources</a:t>
            </a:r>
            <a:endParaRPr lang="en-US" sz="1600" dirty="0"/>
          </a:p>
        </p:txBody>
      </p:sp>
      <p:pic>
        <p:nvPicPr>
          <p:cNvPr id="25" name="Image 5" descr="/home/claude/ppt_review2/icons/com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7" y="5472867"/>
            <a:ext cx="228234" cy="228234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7" name="Image 1" descr="/home/claude/ppt_review2/icons/sources.png">
            <a:extLst>
              <a:ext uri="{FF2B5EF4-FFF2-40B4-BE49-F238E27FC236}">
                <a16:creationId xmlns:a16="http://schemas.microsoft.com/office/drawing/2014/main" id="{65142827-88EB-F27A-0ED6-6E2CC64DB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3114611"/>
            <a:ext cx="228234" cy="228234"/>
          </a:xfrm>
          <a:prstGeom prst="rect">
            <a:avLst/>
          </a:prstGeom>
        </p:spPr>
      </p:pic>
      <p:sp>
        <p:nvSpPr>
          <p:cNvPr id="11" name="Text 9">
            <a:extLst>
              <a:ext uri="{FF2B5EF4-FFF2-40B4-BE49-F238E27FC236}">
                <a16:creationId xmlns:a16="http://schemas.microsoft.com/office/drawing/2014/main" id="{0111E5DF-386A-FC3F-3332-2A35AE553C79}"/>
              </a:ext>
            </a:extLst>
          </p:cNvPr>
          <p:cNvSpPr txBox="1"/>
          <p:nvPr/>
        </p:nvSpPr>
        <p:spPr>
          <a:xfrm>
            <a:off x="1234440" y="35387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AutoNum type="arabicPeriod"/>
            </a:pPr>
            <a:r>
              <a:rPr lang="en-US" sz="1600" dirty="0"/>
              <a:t>Literature survey: 10 key papers across CNN, </a:t>
            </a:r>
            <a:r>
              <a:rPr lang="en-US" sz="1600" dirty="0" err="1"/>
              <a:t>ViT</a:t>
            </a:r>
            <a:r>
              <a:rPr lang="en-US" sz="1600" dirty="0"/>
              <a:t>, and Hybrid architectures</a:t>
            </a:r>
          </a:p>
          <a:p>
            <a:pPr marL="342900" indent="-342900">
              <a:buAutoNum type="arabicPeriod"/>
            </a:pPr>
            <a:r>
              <a:rPr lang="en-US" sz="1600" dirty="0"/>
              <a:t>Dataset sourced from Kaggle (phylake1337) — 999 real-world fire images</a:t>
            </a:r>
          </a:p>
          <a:p>
            <a:pPr marL="342900" indent="-342900">
              <a:buAutoNum type="arabicPeriod"/>
            </a:pPr>
            <a:r>
              <a:rPr lang="en-US" sz="1600" dirty="0"/>
              <a:t>Tools: </a:t>
            </a:r>
            <a:r>
              <a:rPr lang="en-US" sz="1600" dirty="0" err="1"/>
              <a:t>PyTorch</a:t>
            </a:r>
            <a:r>
              <a:rPr lang="en-US" sz="1600" dirty="0"/>
              <a:t>, </a:t>
            </a:r>
            <a:r>
              <a:rPr lang="en-US" sz="1600" dirty="0" err="1"/>
              <a:t>timm</a:t>
            </a:r>
            <a:r>
              <a:rPr lang="en-US" sz="1600" dirty="0"/>
              <a:t>, </a:t>
            </a:r>
            <a:r>
              <a:rPr lang="en-US" sz="1600" dirty="0" err="1"/>
              <a:t>albumentations</a:t>
            </a:r>
            <a:r>
              <a:rPr lang="en-US" sz="1600" dirty="0"/>
              <a:t>, scikit-learn, </a:t>
            </a:r>
            <a:r>
              <a:rPr lang="en-US" sz="1600" dirty="0" err="1"/>
              <a:t>pytorch</a:t>
            </a:r>
            <a:r>
              <a:rPr lang="en-US" sz="1600" dirty="0"/>
              <a:t>-grad-cam</a:t>
            </a: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734F4CA9-F471-0CD3-211C-CB494443D5C1}"/>
              </a:ext>
            </a:extLst>
          </p:cNvPr>
          <p:cNvSpPr/>
          <p:nvPr/>
        </p:nvSpPr>
        <p:spPr>
          <a:xfrm>
            <a:off x="548640" y="4325112"/>
            <a:ext cx="475488" cy="475488"/>
          </a:xfrm>
          <a:prstGeom prst="ellipse">
            <a:avLst/>
          </a:prstGeom>
          <a:solidFill>
            <a:srgbClr val="12417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2" descr="/home/claude/ppt_review2/icons/analysis.png">
            <a:extLst>
              <a:ext uri="{FF2B5EF4-FFF2-40B4-BE49-F238E27FC236}">
                <a16:creationId xmlns:a16="http://schemas.microsoft.com/office/drawing/2014/main" id="{6E6E8316-7465-8383-FCC4-2C33327B14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67" y="4448739"/>
            <a:ext cx="228234" cy="228234"/>
          </a:xfrm>
          <a:prstGeom prst="rect">
            <a:avLst/>
          </a:prstGeom>
        </p:spPr>
      </p:pic>
      <p:sp>
        <p:nvSpPr>
          <p:cNvPr id="24" name="Text 9">
            <a:extLst>
              <a:ext uri="{FF2B5EF4-FFF2-40B4-BE49-F238E27FC236}">
                <a16:creationId xmlns:a16="http://schemas.microsoft.com/office/drawing/2014/main" id="{3F95BB73-E54C-3F1C-055D-454E0CF93632}"/>
              </a:ext>
            </a:extLst>
          </p:cNvPr>
          <p:cNvSpPr txBox="1"/>
          <p:nvPr/>
        </p:nvSpPr>
        <p:spPr>
          <a:xfrm>
            <a:off x="1234440" y="48737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AutoNum type="arabicPeriod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3-model comparison on identical dataset split (70/15/15 stratified)</a:t>
            </a:r>
          </a:p>
          <a:p>
            <a:pPr marL="342900" indent="-342900">
              <a:buAutoNum type="arabicPeriod"/>
            </a:pPr>
            <a:r>
              <a:rPr lang="en-US" sz="1600" dirty="0"/>
              <a:t>Evaluation metrics: Accuracy, Precision, Recall, F1-Score, AUC-ROC</a:t>
            </a:r>
          </a:p>
          <a:p>
            <a:pPr marL="342900" indent="-342900">
              <a:buAutoNum type="arabicPeriod"/>
            </a:pPr>
            <a:r>
              <a:rPr lang="en-US" sz="1600" dirty="0"/>
              <a:t>Confusion matrix, ROC curves, and model comparison bar chart</a:t>
            </a: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C7FF1233-8C14-D720-B7D8-2B765D9D140E}"/>
              </a:ext>
            </a:extLst>
          </p:cNvPr>
          <p:cNvSpPr txBox="1"/>
          <p:nvPr/>
        </p:nvSpPr>
        <p:spPr>
          <a:xfrm>
            <a:off x="1234440" y="432511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Concrete Data / Evidence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FFA-AB05-4ECA-2EE9-3840DA1DD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411A45-90D7-A265-F313-3B56E501542B}"/>
              </a:ext>
            </a:extLst>
          </p:cNvPr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9BB7DF-6955-F4E9-902A-CFDE951C744D}"/>
              </a:ext>
            </a:extLst>
          </p:cNvPr>
          <p:cNvSpPr txBox="1"/>
          <p:nvPr/>
        </p:nvSpPr>
        <p:spPr>
          <a:xfrm>
            <a:off x="45720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E1FF637-FCA7-CDD1-82A8-9B725C41204E}"/>
              </a:ext>
            </a:extLst>
          </p:cNvPr>
          <p:cNvSpPr/>
          <p:nvPr/>
        </p:nvSpPr>
        <p:spPr>
          <a:xfrm>
            <a:off x="548640" y="1417320"/>
            <a:ext cx="475488" cy="475488"/>
          </a:xfrm>
          <a:prstGeom prst="ellipse">
            <a:avLst/>
          </a:prstGeom>
          <a:solidFill>
            <a:srgbClr val="1241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55DF109-0798-7338-45E1-C492C271E56D}"/>
              </a:ext>
            </a:extLst>
          </p:cNvPr>
          <p:cNvSpPr txBox="1"/>
          <p:nvPr/>
        </p:nvSpPr>
        <p:spPr>
          <a:xfrm>
            <a:off x="1234440" y="141732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Theoretical Knowledge</a:t>
            </a:r>
            <a:endParaRPr lang="en-US" sz="1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ED220B2-9719-6FE6-DA17-712B8A0E884A}"/>
              </a:ext>
            </a:extLst>
          </p:cNvPr>
          <p:cNvSpPr txBox="1"/>
          <p:nvPr/>
        </p:nvSpPr>
        <p:spPr>
          <a:xfrm>
            <a:off x="1234440" y="2203704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AutoNum type="arabicPeriod"/>
            </a:pPr>
            <a:r>
              <a:rPr lang="en-US" sz="1600" dirty="0"/>
              <a:t>CNN local feature extraction theory applied via EfficientNet-B4 backbone</a:t>
            </a:r>
          </a:p>
          <a:p>
            <a:pPr marL="342900" indent="-342900">
              <a:buAutoNum type="arabicPeriod"/>
            </a:pPr>
            <a:r>
              <a:rPr lang="en-US" sz="1600" dirty="0"/>
              <a:t>Transformer self-attention theory applied via 4-layer encoder (8 heads)</a:t>
            </a:r>
          </a:p>
          <a:p>
            <a:pPr marL="342900" indent="-342900">
              <a:buAutoNum type="arabicPeriod"/>
            </a:pPr>
            <a:r>
              <a:rPr lang="en-US" sz="1600" dirty="0"/>
              <a:t>Two-phase training strategy based on transfer learning principles</a:t>
            </a: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B3342647-6E4C-E2BF-FCB1-D6B385E0AC26}"/>
              </a:ext>
            </a:extLst>
          </p:cNvPr>
          <p:cNvSpPr/>
          <p:nvPr/>
        </p:nvSpPr>
        <p:spPr>
          <a:xfrm>
            <a:off x="548640" y="2990088"/>
            <a:ext cx="475488" cy="475488"/>
          </a:xfrm>
          <a:prstGeom prst="ellipse">
            <a:avLst/>
          </a:prstGeom>
          <a:solidFill>
            <a:srgbClr val="1241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F6C31E2-00C9-3AE6-72FF-C49C34344604}"/>
              </a:ext>
            </a:extLst>
          </p:cNvPr>
          <p:cNvSpPr txBox="1"/>
          <p:nvPr/>
        </p:nvSpPr>
        <p:spPr>
          <a:xfrm>
            <a:off x="1234440" y="299008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Insights / Decision-Making</a:t>
            </a:r>
            <a:endParaRPr lang="en-US" sz="16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06217F0-10AC-F50A-9E60-9809881366C2}"/>
              </a:ext>
            </a:extLst>
          </p:cNvPr>
          <p:cNvSpPr txBox="1"/>
          <p:nvPr/>
        </p:nvSpPr>
        <p:spPr>
          <a:xfrm>
            <a:off x="1234440" y="377647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AutoNum type="arabicPeriod"/>
            </a:pPr>
            <a:r>
              <a:rPr lang="en-US" sz="1600" dirty="0"/>
              <a:t>Key findings from experimental results</a:t>
            </a:r>
          </a:p>
          <a:p>
            <a:pPr marL="342900" indent="-342900">
              <a:buAutoNum type="arabicPeriod"/>
            </a:pPr>
            <a:r>
              <a:rPr lang="en-US" sz="1600" dirty="0"/>
              <a:t>Analysis of model behavior using Grad-CAM and attention maps</a:t>
            </a:r>
          </a:p>
          <a:p>
            <a:pPr marL="342900" indent="-342900">
              <a:buAutoNum type="arabicPeriod"/>
            </a:pPr>
            <a:r>
              <a:rPr lang="en-US" sz="1600" dirty="0"/>
              <a:t>Failure case patterns and implications for real-world deployment</a:t>
            </a:r>
          </a:p>
        </p:txBody>
      </p:sp>
      <p:pic>
        <p:nvPicPr>
          <p:cNvPr id="21" name="Image 4" descr="/home/claude/ppt_review2/icons/insight.png">
            <a:extLst>
              <a:ext uri="{FF2B5EF4-FFF2-40B4-BE49-F238E27FC236}">
                <a16:creationId xmlns:a16="http://schemas.microsoft.com/office/drawing/2014/main" id="{F706E239-DCCA-D23B-B4C7-4D34D3A0A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4686483"/>
            <a:ext cx="228234" cy="228234"/>
          </a:xfrm>
          <a:prstGeom prst="rect">
            <a:avLst/>
          </a:prstGeom>
        </p:spPr>
      </p:pic>
      <p:pic>
        <p:nvPicPr>
          <p:cNvPr id="25" name="Image 5" descr="/home/claude/ppt_review2/icons/comms.png">
            <a:extLst>
              <a:ext uri="{FF2B5EF4-FFF2-40B4-BE49-F238E27FC236}">
                <a16:creationId xmlns:a16="http://schemas.microsoft.com/office/drawing/2014/main" id="{23DF521F-FE3D-CC59-8E9D-317DD1603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7" y="5472867"/>
            <a:ext cx="228234" cy="228234"/>
          </a:xfrm>
          <a:prstGeom prst="rect">
            <a:avLst/>
          </a:prstGeom>
        </p:spPr>
      </p:pic>
      <p:sp>
        <p:nvSpPr>
          <p:cNvPr id="28" name="Slide Number Placeholder 0">
            <a:extLst>
              <a:ext uri="{FF2B5EF4-FFF2-40B4-BE49-F238E27FC236}">
                <a16:creationId xmlns:a16="http://schemas.microsoft.com/office/drawing/2014/main" id="{4A2F436D-CE45-2E1C-A540-D41AE6BE11D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7" name="Image 3" descr="/home/claude/ppt_review2/icons/theory.png">
            <a:extLst>
              <a:ext uri="{FF2B5EF4-FFF2-40B4-BE49-F238E27FC236}">
                <a16:creationId xmlns:a16="http://schemas.microsoft.com/office/drawing/2014/main" id="{6AD9EE40-B32F-8413-7F8A-B675DD3078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1558884"/>
            <a:ext cx="228234" cy="228234"/>
          </a:xfrm>
          <a:prstGeom prst="rect">
            <a:avLst/>
          </a:prstGeom>
        </p:spPr>
      </p:pic>
      <p:pic>
        <p:nvPicPr>
          <p:cNvPr id="11" name="Image 4" descr="/home/claude/ppt_review2/icons/insight.png">
            <a:extLst>
              <a:ext uri="{FF2B5EF4-FFF2-40B4-BE49-F238E27FC236}">
                <a16:creationId xmlns:a16="http://schemas.microsoft.com/office/drawing/2014/main" id="{19A3C219-EBF3-C5E4-2E6B-714A60357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3113715"/>
            <a:ext cx="228234" cy="22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30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CRITERION 1 OF 6  •  6 MARKS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&amp; Multifaceted View of the Case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457199" y="1252728"/>
            <a:ext cx="11368735" cy="5038344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12648" y="1462726"/>
            <a:ext cx="73152" cy="292608"/>
          </a:xfrm>
          <a:prstGeom prst="round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85799" y="1375365"/>
            <a:ext cx="11049001" cy="352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Angle – System, Process &amp; Engineering Aspects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708659" y="2098010"/>
            <a:ext cx="10660075" cy="39442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Problem: Existing CNN models lack global receptive field;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models are data-hungry — neither alone is sufficient for small fire datasets</a:t>
            </a:r>
          </a:p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/>
              <a:t>Solution: Hybrid pipeline — EfficientNet-B4 backbone extracts local fire features (7×7×1792 feature map) → 1×1 Conv projection → 4-layer Transformer Encoder captures long-range spatial dependencies across 49 patch tokens</a:t>
            </a:r>
          </a:p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/>
              <a:t>Engineering decisions</a:t>
            </a:r>
            <a:r>
              <a:rPr lang="en-US" sz="1600"/>
              <a:t>: Two-phase </a:t>
            </a:r>
            <a:r>
              <a:rPr lang="en-US" sz="1600" dirty="0"/>
              <a:t>training strategy (backbone frozen → full fine-tune with differential LR) to stabilize convergence on limited data</a:t>
            </a:r>
          </a:p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/>
              <a:t>Class-weighted cross-entropy loss to handle 3.09:1 dataset imbalance</a:t>
            </a:r>
          </a:p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/>
              <a:t>Interpretability built in: Grad-CAM on CNN layers + attention maps on Transformer to validate that the model focuses on fire/smoke regions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CBC87-C550-E7AD-A79F-DF7846FB1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BADE6B-B2CF-64B0-EC99-18CD084FEAFF}"/>
              </a:ext>
            </a:extLst>
          </p:cNvPr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CRITERION 1 OF 6  •  6 MARKS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1E2FFF-4574-EDD9-4BCD-3CB1E3467E68}"/>
              </a:ext>
            </a:extLst>
          </p:cNvPr>
          <p:cNvSpPr txBox="1"/>
          <p:nvPr/>
        </p:nvSpPr>
        <p:spPr>
          <a:xfrm>
            <a:off x="45720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&amp; Multifaceted View of the Case</a:t>
            </a:r>
            <a:endParaRPr lang="en-US" sz="25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7E3F643-9782-A3F8-9B13-B1D5BE008003}"/>
              </a:ext>
            </a:extLst>
          </p:cNvPr>
          <p:cNvSpPr/>
          <p:nvPr/>
        </p:nvSpPr>
        <p:spPr>
          <a:xfrm>
            <a:off x="457199" y="1252728"/>
            <a:ext cx="11368735" cy="5038344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B8BB42A-B352-AEC1-7709-BBE895BC7F80}"/>
              </a:ext>
            </a:extLst>
          </p:cNvPr>
          <p:cNvSpPr/>
          <p:nvPr/>
        </p:nvSpPr>
        <p:spPr>
          <a:xfrm>
            <a:off x="612648" y="1462726"/>
            <a:ext cx="73152" cy="292608"/>
          </a:xfrm>
          <a:prstGeom prst="round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15D2D8F-B3BC-C73B-CAAB-0493631B3EAA}"/>
              </a:ext>
            </a:extLst>
          </p:cNvPr>
          <p:cNvSpPr txBox="1"/>
          <p:nvPr/>
        </p:nvSpPr>
        <p:spPr>
          <a:xfrm>
            <a:off x="685800" y="1375364"/>
            <a:ext cx="6610036" cy="3799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/ Stakeholder Angle – Who Is Affected &amp; How</a:t>
            </a:r>
            <a:endParaRPr lang="en-US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6DF7502-5E0A-2E40-210A-D85C9E17037C}"/>
              </a:ext>
            </a:extLst>
          </p:cNvPr>
          <p:cNvSpPr txBox="1"/>
          <p:nvPr/>
        </p:nvSpPr>
        <p:spPr>
          <a:xfrm>
            <a:off x="708659" y="2098010"/>
            <a:ext cx="10660075" cy="39442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users: forest departments, disaster management agencies, firefighting teams — need fast, reliable early-warning detection </a:t>
            </a:r>
          </a:p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(satellite passes, watchtowers, smoke sensors) have 1–2hour latency; a deep learning model can respond within seconds</a:t>
            </a:r>
          </a:p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(missed fires) are catastrophic — </a:t>
            </a:r>
            <a:r>
              <a:rPr lang="en-US" sz="160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achieved 100% Recall, meaning zero fires missed on the test set; this directly reduces response lag</a:t>
            </a:r>
          </a:p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(false alarms) waste resources — Hybrid achieved highest Precision (98.20%), reducing unnecessary emergency dispatches</a:t>
            </a:r>
          </a:p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(fire/no-fire + confidence score) can integrate directly into existing alert dashboards and GIS monitoring platforms</a:t>
            </a:r>
            <a:endParaRPr lang="en-US" sz="1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68E3823-A5D3-06BD-F22D-05538701458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47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0023B-047F-8B61-6F64-819213D0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3399AD-4CD3-83DC-13EA-03D3E39BC71E}"/>
              </a:ext>
            </a:extLst>
          </p:cNvPr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CRITERION 1 OF 6  •  6 MARKS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532843-422E-FA54-3903-6F9551CFF274}"/>
              </a:ext>
            </a:extLst>
          </p:cNvPr>
          <p:cNvSpPr txBox="1"/>
          <p:nvPr/>
        </p:nvSpPr>
        <p:spPr>
          <a:xfrm>
            <a:off x="45720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&amp; Multifaceted View of the Case</a:t>
            </a:r>
            <a:endParaRPr lang="en-US" sz="25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EA07E37-70EE-5EB4-B66A-5B10344F1214}"/>
              </a:ext>
            </a:extLst>
          </p:cNvPr>
          <p:cNvSpPr/>
          <p:nvPr/>
        </p:nvSpPr>
        <p:spPr>
          <a:xfrm>
            <a:off x="457199" y="1252728"/>
            <a:ext cx="11368735" cy="5038344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470F3B1-763A-46F1-3699-B1C18028BE94}"/>
              </a:ext>
            </a:extLst>
          </p:cNvPr>
          <p:cNvSpPr/>
          <p:nvPr/>
        </p:nvSpPr>
        <p:spPr>
          <a:xfrm>
            <a:off x="612648" y="1462726"/>
            <a:ext cx="73152" cy="292608"/>
          </a:xfrm>
          <a:prstGeom prst="round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7154234-7F90-F0EA-B76F-8B306CA51F5E}"/>
              </a:ext>
            </a:extLst>
          </p:cNvPr>
          <p:cNvSpPr txBox="1"/>
          <p:nvPr/>
        </p:nvSpPr>
        <p:spPr>
          <a:xfrm>
            <a:off x="685800" y="1375364"/>
            <a:ext cx="6610036" cy="3799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/ Wider Angle – Community, Environment &amp; Policy</a:t>
            </a:r>
            <a:endParaRPr lang="en-US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5FC91B2-A380-22BC-63A1-E8796719248A}"/>
              </a:ext>
            </a:extLst>
          </p:cNvPr>
          <p:cNvSpPr txBox="1"/>
          <p:nvPr/>
        </p:nvSpPr>
        <p:spPr>
          <a:xfrm>
            <a:off x="708659" y="2098010"/>
            <a:ext cx="10660075" cy="39442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fires destroy biodiversity, release CO₂, and accelerate climate change; 350–400 million hectares burned annually (global estimate)</a:t>
            </a:r>
          </a:p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(minutes vs. hours) can prevent small ignitions from becoming megafires — protecting communities, wildlife, and air quality</a:t>
            </a:r>
          </a:p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reliable, low-cost deep learning model (runs on free </a:t>
            </a:r>
            <a:r>
              <a:rPr lang="en-US" sz="1600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T4 GPU) makes fire monitoring accessible to under-resourced forest regions</a:t>
            </a:r>
          </a:p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support policy push for AI-integrated national fire monitoring systems alongside satellites and ground sensors</a:t>
            </a:r>
          </a:p>
          <a:p>
            <a:pPr marL="228600" indent="-228600" algn="just">
              <a:lnSpc>
                <a:spcPct val="110000"/>
              </a:lnSpc>
              <a:buAutoNum type="arabicPeriod"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 to UAV/drone deployment enables surveillance of remote forest areas inaccessible to human watchtowers</a:t>
            </a:r>
            <a:endParaRPr lang="en-US" sz="1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13F6874-17B0-E47B-F0ED-F3312451B1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56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CRITERION 2 OF 6  •  5 MARKS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Gathered from Sources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457199" y="1316736"/>
            <a:ext cx="11368735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AutoNum type="arabicPeriod"/>
            </a:pPr>
            <a:r>
              <a:rPr lang="en-US" sz="1400" dirty="0"/>
              <a:t>ACADEMIC LITERATURE — collected via Google Scholar, IEEE Xplore, </a:t>
            </a:r>
            <a:r>
              <a:rPr lang="en-US" sz="1400" dirty="0" err="1"/>
              <a:t>arXiv</a:t>
            </a:r>
            <a:endParaRPr lang="en-US" sz="1400" dirty="0"/>
          </a:p>
          <a:p>
            <a:pPr marL="800100" lvl="1" indent="-342900">
              <a:buAutoNum type="arabicPeriod"/>
            </a:pPr>
            <a:r>
              <a:rPr lang="en-US" sz="1400" dirty="0"/>
              <a:t>10 key papers surveyed across 3 model categories: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CNN-Based:</a:t>
            </a:r>
          </a:p>
          <a:p>
            <a:pPr marL="1257300" lvl="2" indent="-342900">
              <a:buAutoNum type="arabicPeriod"/>
            </a:pPr>
            <a:r>
              <a:rPr lang="en-US" sz="1400" dirty="0" err="1"/>
              <a:t>FireNet</a:t>
            </a:r>
            <a:r>
              <a:rPr lang="en-US" sz="1400" dirty="0"/>
              <a:t> (Jadon et al., 2019) — arXiv:1905.11922</a:t>
            </a:r>
          </a:p>
          <a:p>
            <a:pPr marL="1257300" lvl="2" indent="-342900">
              <a:buAutoNum type="arabicPeriod"/>
            </a:pPr>
            <a:r>
              <a:rPr lang="en-US" sz="1400" dirty="0"/>
              <a:t>ResNet-50 fire detection (Xu et al., 2020) — Journal of Forestry Research</a:t>
            </a:r>
          </a:p>
          <a:p>
            <a:pPr marL="1257300" lvl="2" indent="-342900">
              <a:buAutoNum type="arabicPeriod"/>
            </a:pPr>
            <a:r>
              <a:rPr lang="en-US" sz="1400" dirty="0"/>
              <a:t>EfficientNet-B0 fire detection (Zhang et al., 2021)</a:t>
            </a:r>
          </a:p>
          <a:p>
            <a:pPr marL="1257300" lvl="2" indent="-342900">
              <a:buAutoNum type="arabicPeriod"/>
            </a:pPr>
            <a:r>
              <a:rPr lang="en-US" sz="1400" dirty="0"/>
              <a:t>De Venâncio et al. (2022) — Neural Computing and Applications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Transformer-Based:</a:t>
            </a:r>
          </a:p>
          <a:p>
            <a:pPr marL="1257300" lvl="2" indent="-342900">
              <a:buAutoNum type="arabicPeriod"/>
            </a:pPr>
            <a:r>
              <a:rPr lang="en-US" sz="1400" dirty="0" err="1"/>
              <a:t>ViT</a:t>
            </a:r>
            <a:r>
              <a:rPr lang="en-US" sz="1400" dirty="0"/>
              <a:t>: An Image is Worth 16×16 Words (</a:t>
            </a:r>
            <a:r>
              <a:rPr lang="en-US" sz="1400" dirty="0" err="1"/>
              <a:t>Dosovitskiy</a:t>
            </a:r>
            <a:r>
              <a:rPr lang="en-US" sz="1400" dirty="0"/>
              <a:t> et al., 2021) — ICLR</a:t>
            </a:r>
          </a:p>
          <a:p>
            <a:pPr marL="1257300" lvl="2" indent="-342900">
              <a:buAutoNum type="arabicPeriod"/>
            </a:pPr>
            <a:r>
              <a:rPr lang="en-US" sz="1400" dirty="0"/>
              <a:t>Swin Transformer (Liu et al., 2021) — ICCV</a:t>
            </a:r>
          </a:p>
          <a:p>
            <a:pPr marL="1257300" lvl="2" indent="-342900">
              <a:buAutoNum type="arabicPeriod"/>
            </a:pPr>
            <a:r>
              <a:rPr lang="en-US" sz="1400" dirty="0"/>
              <a:t>Fire Detection using Transformer Networks (Sudhakar et al., 2023)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Hybrid Models:</a:t>
            </a:r>
          </a:p>
          <a:p>
            <a:pPr marL="1257300" lvl="2" indent="-342900">
              <a:buAutoNum type="arabicPeriod"/>
            </a:pPr>
            <a:r>
              <a:rPr lang="en-US" sz="1400" dirty="0" err="1"/>
              <a:t>CoAtNet</a:t>
            </a:r>
            <a:r>
              <a:rPr lang="en-US" sz="1400" dirty="0"/>
              <a:t> (Dai et al., 2021) — </a:t>
            </a:r>
            <a:r>
              <a:rPr lang="en-US" sz="1400" dirty="0" err="1"/>
              <a:t>NeurIPS</a:t>
            </a:r>
            <a:endParaRPr lang="en-US" sz="1400" dirty="0"/>
          </a:p>
          <a:p>
            <a:pPr marL="1257300" lvl="2" indent="-342900">
              <a:buAutoNum type="arabicPeriod"/>
            </a:pPr>
            <a:r>
              <a:rPr lang="en-US" sz="1400" dirty="0"/>
              <a:t>Multi-Scale Feature Fusion CNN (Li et al., 2022)</a:t>
            </a:r>
          </a:p>
          <a:p>
            <a:pPr marL="1257300" lvl="2" indent="-342900">
              <a:buAutoNum type="arabicPeriod"/>
            </a:pPr>
            <a:r>
              <a:rPr lang="en-US" sz="1400" dirty="0"/>
              <a:t>FLAME 2 Dataset &amp; CNN+SVM ensemble (</a:t>
            </a:r>
            <a:r>
              <a:rPr lang="en-US" sz="1400" dirty="0" err="1"/>
              <a:t>Shamsoshoara</a:t>
            </a:r>
            <a:r>
              <a:rPr lang="en-US" sz="1400" dirty="0"/>
              <a:t> et al., 2023) — IEEE Access</a:t>
            </a:r>
          </a:p>
          <a:p>
            <a:pPr marL="342900" indent="-342900">
              <a:buAutoNum type="arabicPeriod"/>
            </a:pPr>
            <a:r>
              <a:rPr lang="en-US" sz="1400" dirty="0"/>
              <a:t>IMAGE DATASET — downloaded via Kaggle API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Primary dataset: phylake1337 / fire-dataset (Kaggle)</a:t>
            </a:r>
          </a:p>
          <a:p>
            <a:pPr marL="1257300" lvl="2" indent="-342900">
              <a:buAutoNum type="arabicPeriod"/>
            </a:pPr>
            <a:r>
              <a:rPr lang="en-US" sz="1400" dirty="0"/>
              <a:t>755 fire images + 244 no-fire images = 999 total</a:t>
            </a:r>
          </a:p>
          <a:p>
            <a:pPr marL="1257300" lvl="2" indent="-342900">
              <a:buAutoNum type="arabicPeriod"/>
            </a:pPr>
            <a:r>
              <a:rPr lang="en-US" sz="1400" dirty="0"/>
              <a:t>Ground-level RGB photographs, varied conditions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Additional datasets identified (not used in final training):</a:t>
            </a:r>
          </a:p>
          <a:p>
            <a:pPr marL="1257300" lvl="2" indent="-342900">
              <a:buAutoNum type="arabicPeriod"/>
            </a:pPr>
            <a:r>
              <a:rPr lang="en-US" sz="1400" dirty="0"/>
              <a:t>D-Fire (De Venâncio et al., 2022) — 21,527 images, GitHub</a:t>
            </a:r>
          </a:p>
          <a:p>
            <a:pPr marL="1257300" lvl="2" indent="-342900">
              <a:buAutoNum type="arabicPeriod"/>
            </a:pPr>
            <a:r>
              <a:rPr lang="en-US" sz="1400" dirty="0"/>
              <a:t>NASA FIRMS — geographic fire hotspot coordinates for GIS mapping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C6439-DB50-5C84-95C8-C6CDC7FC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D14B26-781C-6E35-03A4-74023B6DA469}"/>
              </a:ext>
            </a:extLst>
          </p:cNvPr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CRITERION 2 OF 6  •  5 MARKS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0A2792-CD00-D08B-F12A-FCF0D4C3C848}"/>
              </a:ext>
            </a:extLst>
          </p:cNvPr>
          <p:cNvSpPr txBox="1"/>
          <p:nvPr/>
        </p:nvSpPr>
        <p:spPr>
          <a:xfrm>
            <a:off x="45720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Gathered from Sources</a:t>
            </a:r>
            <a:endParaRPr lang="en-US" sz="2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34C7768-29BD-99D9-850F-8F18A052CCB3}"/>
              </a:ext>
            </a:extLst>
          </p:cNvPr>
          <p:cNvSpPr txBox="1"/>
          <p:nvPr/>
        </p:nvSpPr>
        <p:spPr>
          <a:xfrm>
            <a:off x="457199" y="1316736"/>
            <a:ext cx="11368735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+mj-lt"/>
              <a:buAutoNum type="arabicPeriod" startAt="3"/>
            </a:pPr>
            <a:r>
              <a:rPr lang="en-US" sz="1400" dirty="0"/>
              <a:t>PRETRAINED MODEL WEIGHTS — loaded via </a:t>
            </a:r>
            <a:r>
              <a:rPr lang="en-US" sz="1400" dirty="0" err="1"/>
              <a:t>timm</a:t>
            </a:r>
            <a:r>
              <a:rPr lang="en-US" sz="1400" dirty="0"/>
              <a:t> library (pip install </a:t>
            </a:r>
            <a:r>
              <a:rPr lang="en-US" sz="1400" dirty="0" err="1"/>
              <a:t>timm</a:t>
            </a:r>
            <a:r>
              <a:rPr lang="en-US" sz="1400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EfficientNet-B4 — pretrained on ImageNet-1K (1.28M images, 1000 classes)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 err="1"/>
              <a:t>ViT</a:t>
            </a:r>
            <a:r>
              <a:rPr lang="en-US" sz="1400" dirty="0"/>
              <a:t>-B/16        — pretrained on ImageNet-21K (14M images, 21,841 classes)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Both weights provide strong visual feature priors before fine-tuning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1400" dirty="0"/>
              <a:t>SOFTWARE TOOLS &amp; LIBRARIES — installed via pip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 err="1"/>
              <a:t>PyTorch</a:t>
            </a:r>
            <a:r>
              <a:rPr lang="en-US" sz="1400" dirty="0"/>
              <a:t> 2.x: Deep learning framework, model training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 err="1"/>
              <a:t>timm</a:t>
            </a:r>
            <a:r>
              <a:rPr lang="en-US" sz="1400" dirty="0"/>
              <a:t>: Pretrained CNN and </a:t>
            </a:r>
            <a:r>
              <a:rPr lang="en-US" sz="1400" dirty="0" err="1"/>
              <a:t>ViT</a:t>
            </a:r>
            <a:r>
              <a:rPr lang="en-US" sz="1400" dirty="0"/>
              <a:t> model weights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 err="1"/>
              <a:t>albumentations</a:t>
            </a:r>
            <a:r>
              <a:rPr lang="en-US" sz="1400" dirty="0"/>
              <a:t>: Image augmentation pipeline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scikit-learn: Evaluation metrics (F1, AUC-ROC, etc.)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 err="1"/>
              <a:t>pytorch</a:t>
            </a:r>
            <a:r>
              <a:rPr lang="en-US" sz="1400" dirty="0"/>
              <a:t>-grad-cam: Grad-CAM interpretability visualization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matplotlib / seaborn: Plots — training curves, confusion matrix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pandas: Results table and CSV export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OpenCV (cv2): Image loading and attention map overlay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Pillow: Image format handling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1400" dirty="0"/>
              <a:t>COMPUTE RESOURCE — Google Collaboratory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Hardware: NVIDIA Tesla T4 GPU (free tier)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Environment: Python 3.10, CUDA-enabled GPU training	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8354150-E1DA-C9DB-5BE9-BBB2D2C7B0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71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CRITERION 3 OF 6  •  7 MARKS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Concrete Data / Evidence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457199" y="1417320"/>
            <a:ext cx="11368735" cy="4873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AutoNum type="arabicPeriod"/>
            </a:pPr>
            <a:r>
              <a:rPr lang="en-US" sz="1400" dirty="0"/>
              <a:t>ANALYSIS 1 — MODEL PERFORMANCE METRICS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Data / Evidence Summary: Test set results for all 3 models (152 images) Accuracy, Precision, Recall, F1-Score, AUC-ROC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Analysis Method Applied: scikit-learn </a:t>
            </a:r>
            <a:r>
              <a:rPr lang="en-US" sz="1400" dirty="0" err="1"/>
              <a:t>classification_report</a:t>
            </a:r>
            <a:r>
              <a:rPr lang="en-US" sz="1400" dirty="0"/>
              <a:t>, </a:t>
            </a:r>
            <a:r>
              <a:rPr lang="en-US" sz="1400" dirty="0" err="1"/>
              <a:t>roc_auc_score</a:t>
            </a:r>
            <a:endParaRPr lang="en-US" sz="1400" dirty="0"/>
          </a:p>
          <a:p>
            <a:pPr marL="800100" lvl="1" indent="-342900">
              <a:buAutoNum type="arabicPeriod"/>
            </a:pPr>
            <a:r>
              <a:rPr lang="en-US" sz="1400" dirty="0"/>
              <a:t>Key Pattern / Finding: All models exceed 95% accuracy; </a:t>
            </a:r>
            <a:r>
              <a:rPr lang="en-US" sz="1400" dirty="0" err="1"/>
              <a:t>ViT</a:t>
            </a:r>
            <a:r>
              <a:rPr lang="en-US" sz="1400" dirty="0"/>
              <a:t> achieves 100% Recall; Hybrid achieves highest Precision (98.20%)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Implication: No single model dominates all metrics — choice depends on deployment priority (zero missed fires → </a:t>
            </a:r>
            <a:r>
              <a:rPr lang="en-US" sz="1400" dirty="0" err="1"/>
              <a:t>ViT</a:t>
            </a:r>
            <a:r>
              <a:rPr lang="en-US" sz="1400" dirty="0"/>
              <a:t>; fewest false alarms → Hybrid)</a:t>
            </a:r>
          </a:p>
          <a:p>
            <a:pPr marL="342900" indent="-342900">
              <a:buAutoNum type="arabicPeriod"/>
            </a:pPr>
            <a:r>
              <a:rPr lang="en-US" sz="1400" dirty="0"/>
              <a:t>ANALYSIS 2 — CONFUSION MATRIX (Hybrid Model)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Data / Evidence Summary: 152 test predictions broken into TP, TN, FP, FN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Analysis Method Applied: </a:t>
            </a:r>
            <a:r>
              <a:rPr lang="en-US" sz="1400" dirty="0" err="1"/>
              <a:t>sklearn.metrics.confusion_matrix</a:t>
            </a:r>
            <a:r>
              <a:rPr lang="en-US" sz="1400" dirty="0"/>
              <a:t> + seaborn heatmap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Key Pattern / Finding: Hybrid made 7 total errors — 5 false negatives (missed fires) and 2 false positives (false alarms)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Implication: Hybrid is more conservative; in fire safety context 5 missed fires is the critical risk to address</a:t>
            </a:r>
          </a:p>
          <a:p>
            <a:pPr marL="342900" indent="-342900">
              <a:buAutoNum type="arabicPeriod"/>
            </a:pPr>
            <a:r>
              <a:rPr lang="en-US" sz="1400" dirty="0"/>
              <a:t>ANALYSIS 3 — ROC CURVE COMPARISON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Data / Evidence Summary: Predicted fire probabilities vs. true labels, plotted across all classification thresholds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Analysis Method Applied: </a:t>
            </a:r>
            <a:r>
              <a:rPr lang="en-US" sz="1400" dirty="0" err="1"/>
              <a:t>sklearn.metrics.roc_curve</a:t>
            </a:r>
            <a:r>
              <a:rPr lang="en-US" sz="1400" dirty="0"/>
              <a:t> + matplotlib overlay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Key Pattern / Finding: CNN AUC=0.9977, </a:t>
            </a:r>
            <a:r>
              <a:rPr lang="en-US" sz="1400" dirty="0" err="1"/>
              <a:t>ViT</a:t>
            </a:r>
            <a:r>
              <a:rPr lang="en-US" sz="1400" dirty="0"/>
              <a:t> AUC=0.9998, Hybrid AUC=0.9965 — all curves hug the top-left corner; near-perfect separation between fire and no-fire classes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Implication: All 3 models are highly reliable discriminators; </a:t>
            </a:r>
            <a:r>
              <a:rPr lang="en-US" sz="1400" dirty="0" err="1"/>
              <a:t>ViT's</a:t>
            </a:r>
            <a:r>
              <a:rPr lang="en-US" sz="1400" dirty="0"/>
              <a:t> AUC of 0.9998 is closest to perfect (1.0)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6D88E-E8AA-B091-ABB2-C21B98A0A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DB103F-897B-C5BC-BC45-1A61650AA192}"/>
              </a:ext>
            </a:extLst>
          </p:cNvPr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CRITERION 3 OF 6  •  7 MARKS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0B287C-C46A-33D1-E4A4-BB0E27B0269B}"/>
              </a:ext>
            </a:extLst>
          </p:cNvPr>
          <p:cNvSpPr txBox="1"/>
          <p:nvPr/>
        </p:nvSpPr>
        <p:spPr>
          <a:xfrm>
            <a:off x="45720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Concrete Data / Evidence</a:t>
            </a:r>
            <a:endParaRPr lang="en-US" sz="2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10D4419-6E4D-8A5D-804A-CF659C33D79D}"/>
              </a:ext>
            </a:extLst>
          </p:cNvPr>
          <p:cNvSpPr txBox="1"/>
          <p:nvPr/>
        </p:nvSpPr>
        <p:spPr>
          <a:xfrm>
            <a:off x="457199" y="1417320"/>
            <a:ext cx="11368735" cy="4873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+mj-lt"/>
              <a:buAutoNum type="arabicPeriod" startAt="4"/>
            </a:pPr>
            <a:r>
              <a:rPr lang="en-US" sz="1400" dirty="0"/>
              <a:t>ANALYSIS 4 — TRAINING CURVE ANALYSIS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Data / Evidence Summary: Epoch-by-epoch train/</a:t>
            </a:r>
            <a:r>
              <a:rPr lang="en-US" sz="1400" dirty="0" err="1"/>
              <a:t>val</a:t>
            </a:r>
            <a:r>
              <a:rPr lang="en-US" sz="1400" dirty="0"/>
              <a:t> loss and accuracy across all 28 training epochs (phase 1 + phase 2)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Analysis Method Applied: History </a:t>
            </a:r>
            <a:r>
              <a:rPr lang="en-US" sz="1400" dirty="0" err="1"/>
              <a:t>dict</a:t>
            </a:r>
            <a:r>
              <a:rPr lang="en-US" sz="1400" dirty="0"/>
              <a:t> saved as .pt files, plotted with matplotlib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Key Pattern / Finding: Two-phase boundary clearly visible — sharp gain in phase 1, smooth convergence in phase 2; no overfitting gap between train and </a:t>
            </a:r>
            <a:r>
              <a:rPr lang="en-US" sz="1400" dirty="0" err="1"/>
              <a:t>val</a:t>
            </a:r>
            <a:r>
              <a:rPr lang="en-US" sz="1400" dirty="0"/>
              <a:t> accuracy in any model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Implication: Two-phase training strategy worked as designed — pretrained features preserved while new layers adapted</a:t>
            </a:r>
          </a:p>
          <a:p>
            <a:pPr marL="342900" indent="-342900">
              <a:buAutoNum type="arabicPeriod" startAt="4"/>
            </a:pPr>
            <a:r>
              <a:rPr lang="en-US" sz="1400" dirty="0"/>
              <a:t>ANALYSIS 5 — GRAD-CAM INTERPRETABILITY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Data / Evidence Summary: 8 test images (4 fire + 4 no-fire) with CNN heatmaps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Analysis Method Applied: </a:t>
            </a:r>
            <a:r>
              <a:rPr lang="en-US" sz="1400" dirty="0" err="1"/>
              <a:t>pytorch</a:t>
            </a:r>
            <a:r>
              <a:rPr lang="en-US" sz="1400" dirty="0"/>
              <a:t>-grad-cam on last EfficientNet-B4 conv block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Key Pattern / Finding: Bright activation regions consistently align with flame cores, smoke plumes, and reddish boundaries — not trees, sky, or irrelevant background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Implication: CNN component learns semantically correct features; model decisions are trustworthy and explainable</a:t>
            </a:r>
          </a:p>
          <a:p>
            <a:pPr marL="342900" indent="-342900">
              <a:buAutoNum type="arabicPeriod" startAt="4"/>
            </a:pPr>
            <a:r>
              <a:rPr lang="en-US" sz="1400" dirty="0"/>
              <a:t>ANALYSIS 6 — TRANSFORMER ATTENTION MAPS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Data / Evidence Summary: CLS token attention weights from final Transformer layer over 3 fire test images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Analysis Method Applied: </a:t>
            </a:r>
            <a:r>
              <a:rPr lang="en-US" sz="1400"/>
              <a:t>Forward hook-on </a:t>
            </a:r>
            <a:r>
              <a:rPr lang="en-US" sz="1400" dirty="0" err="1"/>
              <a:t>self_attn</a:t>
            </a:r>
            <a:r>
              <a:rPr lang="en-US" sz="1400" dirty="0"/>
              <a:t> layer → reshape 49 weights → 7×7 grid → </a:t>
            </a:r>
            <a:r>
              <a:rPr lang="en-US" sz="1400" dirty="0" err="1"/>
              <a:t>upsample</a:t>
            </a:r>
            <a:r>
              <a:rPr lang="en-US" sz="1400" dirty="0"/>
              <a:t> → overlay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Key Pattern / Finding: Attention spreads across the full scene — smoke boundaries and fire-sky transitions highlighted, showing global context is captured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Implication: Transformer component adds value beyond CNN by reasoning about spatial relationships across the image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A0B9E19-D34E-091E-08DE-F3C923C18A1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24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BA274-D249-C152-DD5E-B8702117A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E1747A-C63E-1636-DB31-D52EB6E697F9}"/>
              </a:ext>
            </a:extLst>
          </p:cNvPr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CRITERION 3 OF 6  •  7 MARKS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8085F5-9185-565A-3BB6-83BE0FA74C30}"/>
              </a:ext>
            </a:extLst>
          </p:cNvPr>
          <p:cNvSpPr txBox="1"/>
          <p:nvPr/>
        </p:nvSpPr>
        <p:spPr>
          <a:xfrm>
            <a:off x="45720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Concrete Data / Evidence</a:t>
            </a:r>
            <a:endParaRPr lang="en-US" sz="2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F8E4369-408A-CF73-A3A8-600225E745A3}"/>
              </a:ext>
            </a:extLst>
          </p:cNvPr>
          <p:cNvSpPr txBox="1"/>
          <p:nvPr/>
        </p:nvSpPr>
        <p:spPr>
          <a:xfrm>
            <a:off x="457199" y="1417320"/>
            <a:ext cx="11368735" cy="4873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+mj-lt"/>
              <a:buAutoNum type="arabicPeriod" startAt="7"/>
            </a:pPr>
            <a:r>
              <a:rPr lang="en-US" sz="1400" dirty="0"/>
              <a:t>ANALYSIS 7 — FAILURE CASE ANALYSIS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Data / Evidence Summary: 7 misclassified test images sorted by confidence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Analysis Method Applied: Manual visual inspection + confidence score sorting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Key Pattern / Finding: FP pattern — red/orange foliage and sunsets trigger fire prediction; FN pattern — faint smoke without visible flames is missed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Implication: Hard negatives (visually fire-like scenes) remain a challenge; future work — smoke-only augmentation and multi-class labels (fire / smoke / neither)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D254F59-0A25-1191-6824-0BBDF9966F1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98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CRITERION 4 OF 6  •  6 MARKS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Theoretical Knowledge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457199" y="1417320"/>
            <a:ext cx="11368735" cy="4873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AutoNum type="arabicPeriod"/>
            </a:pPr>
            <a:r>
              <a:rPr lang="en-US" sz="1400" dirty="0"/>
              <a:t>THEORY 1 — CONVOLUTIONAL NEURAL NETWORKS (CNN)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Theory / Concept Applied  : CNNs use learnable filters that slide spatially across an image to detect local patterns — edges, textures, and color gradients layer by layer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How It Explains the Case  : EfficientNet-B4 applied as backbone detects localized fire cues — flame edges, orange-red color gradients, and smoke texture — producing a rich 7×7×1792 feature map from each input image</a:t>
            </a:r>
          </a:p>
          <a:p>
            <a:pPr marL="342900" indent="-342900">
              <a:buAutoNum type="arabicPeriod"/>
            </a:pPr>
            <a:r>
              <a:rPr lang="en-US" sz="1400" dirty="0"/>
              <a:t>THEORY 2 — TRANSFER LEARNING &amp; FINE-TUNING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Theory / Concept Applied  : A model pretrained on a large dataset (ImageNet) learns general visual features that transfer to new tasks with far less data and training time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How It Explains the Case  : EfficientNet-B4 (ImageNet-1K) and </a:t>
            </a:r>
            <a:r>
              <a:rPr lang="en-US" sz="1400" dirty="0" err="1"/>
              <a:t>ViT</a:t>
            </a:r>
            <a:r>
              <a:rPr lang="en-US" sz="1400" dirty="0"/>
              <a:t>-B/16 (ImageNet-21K) arrive with strong visual priors; fine-tuning on 698 fire images is sufficient to achieve &gt;95% accuracy — without pretraining this would require tens of thousands of fire images</a:t>
            </a:r>
          </a:p>
          <a:p>
            <a:pPr marL="342900" indent="-342900">
              <a:buAutoNum type="arabicPeriod"/>
            </a:pPr>
            <a:r>
              <a:rPr lang="en-US" sz="1400" dirty="0"/>
              <a:t>THEORY 3 — TRANSFORMER SELF-ATTENTION MECHANISM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Theory / Concept Applied  : Self-attention computes a relevance score between every pair of tokens, allowing any two positions in the sequence to directly influence each other regardless of spatial distance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How It Explains the Case  : Applied after CNN feature extraction — the 49 patch tokens (7×7 grid) attend to each other across the full scene; smoke in one corner and a heat shimmer in another can jointly confirm fire, which a CNN kernel alone cannot do</a:t>
            </a:r>
          </a:p>
          <a:p>
            <a:pPr marL="342900" indent="-342900">
              <a:buAutoNum type="arabicPeriod"/>
            </a:pPr>
            <a:r>
              <a:rPr lang="en-US" sz="1400" dirty="0"/>
              <a:t>THEORY 4 — HYBRID ARCHITECTURE DESIGN PRINCIPLE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Theory / Concept Applied  : Combining inductive biases of two paradigms — CNN's translation equivariance (strong on local structure) with Transformer's global context (strong on long-range dependencies)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How It Explains the Case  : CNN extracts semantically rich local fire features first, reducing the burden on the Transformer; the Transformer then reasons globally over those features — requiring fewer layers (4 vs. 12 in </a:t>
            </a:r>
            <a:r>
              <a:rPr lang="en-US" sz="1400" dirty="0" err="1"/>
              <a:t>ViT</a:t>
            </a:r>
            <a:r>
              <a:rPr lang="en-US" sz="1400" dirty="0"/>
              <a:t>) and less data to converge effectively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1B6F2-B60E-C1E9-9514-E168D5B76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EC10AC-663A-38BB-BE03-4554EDA221E9}"/>
              </a:ext>
            </a:extLst>
          </p:cNvPr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CRITERION 4 OF 6  •  6 MARKS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D62D96-DA23-482B-6F9C-0E1F8AD4BCB2}"/>
              </a:ext>
            </a:extLst>
          </p:cNvPr>
          <p:cNvSpPr txBox="1"/>
          <p:nvPr/>
        </p:nvSpPr>
        <p:spPr>
          <a:xfrm>
            <a:off x="45720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Theoretical Knowledge</a:t>
            </a:r>
            <a:endParaRPr lang="en-US" sz="2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C0AAF58-555C-7C70-428B-56271036EEDF}"/>
              </a:ext>
            </a:extLst>
          </p:cNvPr>
          <p:cNvSpPr txBox="1"/>
          <p:nvPr/>
        </p:nvSpPr>
        <p:spPr>
          <a:xfrm>
            <a:off x="457199" y="1417320"/>
            <a:ext cx="11368735" cy="4873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+mj-lt"/>
              <a:buAutoNum type="arabicPeriod" startAt="5"/>
            </a:pPr>
            <a:r>
              <a:rPr lang="en-US" sz="1400" dirty="0"/>
              <a:t>THEORY 5 — TWO-PHASE TRAINING STRATEGY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Theory / Concept Applied  : Catastrophic forgetting — training a pretrained network with a large learning rate overwrites previously learned weights; warm-up with frozen backbone protects pretrained features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How It Explains the Case  : Phase 1 freezes EfficientNet-B4 and trains only the Transformer + head, allowing new layers to stabilize; Phase 2 unfreezes all layers with a lower backbone LR (1×10⁻⁵) to fine-tune gently without losing ImageNet-learned visual features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sz="1400" dirty="0"/>
              <a:t>THEORY 6 — CLASS-WEIGHTED LOSS FOR IMBALANCED DATA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Theory / Concept Applied  : Standard cross-entropy treats all classes equally; inverse-frequency weighting penalizes mistakes on minority classes more heavily, forcing the model to learn both classes despite imbalance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How It Explains the Case  : Dataset has a 3.09:1 fire-to-no-fire ratio; without weighting the model would bias toward always predicting "fire"; weighted loss ensures no-fire cases are learnt correctly, improving Precision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sz="1400" dirty="0"/>
              <a:t>THEORY 7 — GRAD-CAM (GRADIENT-WEIGHTED CLASS ACTIVATION MAPPING)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Theory / Concept Applied  : Gradients of the predicted class score with respect to the last convolutional feature map are used to weight spatial activations — producing a heatmap of which regions drove the prediction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How It Explains the Case  : Applied to EfficientNet-B4's final conv block — heatmaps confirm the model focuses on flame cores and smoke boundaries, not trees or sky, validating that predictions are based on correct visual evidence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44D7573-F1A3-3520-B388-54D7F4C3C4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874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CRITERION 5 OF 6  •  4 MARKS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4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Insights / Decision-Making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457199" y="1417320"/>
            <a:ext cx="11368735" cy="4873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AutoNum type="arabicPeriod"/>
            </a:pPr>
            <a:r>
              <a:rPr lang="en-US" sz="1400" dirty="0"/>
              <a:t>INSIGHT 1 — HYPOTHESIS PARTIALLY SUPPORTED</a:t>
            </a:r>
          </a:p>
          <a:p>
            <a:pPr marL="800100" lvl="1" indent="-342900">
              <a:buAutoNum type="arabicPeriod"/>
            </a:pPr>
            <a:r>
              <a:rPr lang="en-US" sz="1400" dirty="0" err="1"/>
              <a:t>ViT</a:t>
            </a:r>
            <a:r>
              <a:rPr lang="en-US" sz="1400" dirty="0"/>
              <a:t>-B/16 outperformed the Hybrid (99.34% vs. 95.39% accuracy)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Strong ImageNet-21K pretraining transfers better than a custom CNN + Transformer on a 999-image dataset — not an architectural flaw</a:t>
            </a:r>
          </a:p>
          <a:p>
            <a:pPr marL="342900" indent="-342900">
              <a:buAutoNum type="arabicPeriod"/>
            </a:pPr>
            <a:r>
              <a:rPr lang="en-US" sz="1400" dirty="0"/>
              <a:t>INSIGHT 2 — NO SINGLE BEST MODEL; TRADE-OFF IS USE-CASE DEPENDENT</a:t>
            </a:r>
          </a:p>
          <a:p>
            <a:pPr marL="800100" lvl="1" indent="-342900">
              <a:buAutoNum type="arabicPeriod"/>
            </a:pPr>
            <a:r>
              <a:rPr lang="en-US" sz="1400" dirty="0" err="1"/>
              <a:t>ViT</a:t>
            </a:r>
            <a:r>
              <a:rPr lang="en-US" sz="1400" dirty="0"/>
              <a:t>: perfect Recall (100%) — best for zero missed fires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Hybrid: highest Precision (98.20%) — best for reducing false alarms</a:t>
            </a:r>
          </a:p>
          <a:p>
            <a:pPr marL="342900" indent="-342900">
              <a:buAutoNum type="arabicPeriod"/>
            </a:pPr>
            <a:r>
              <a:rPr lang="en-US" sz="1400" dirty="0"/>
              <a:t>INSIGHT 3 — INTERPRETABILITY IS NON-NEGOTIABLE IN SAFETY SYSTEMS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Grad-CAM confirms model attends to flame cores and smoke boundaries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Transformer attention maps confirm global scene context is captured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A 99% accurate model that focuses on the wrong pixels is not deployable</a:t>
            </a:r>
          </a:p>
          <a:p>
            <a:pPr marL="342900" indent="-342900">
              <a:buAutoNum type="arabicPeriod"/>
            </a:pPr>
            <a:r>
              <a:rPr lang="en-US" sz="1400" dirty="0"/>
              <a:t>INSIGHT 4 — FAILURE CASES DEFINE THE NEXT DESIGN PRIORITY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False positives: red sunsets and orange foliage trigger fire prediction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False negatives: faint smoke without visible flame is missed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Binary classification is insufficient — multi-class labels are needed</a:t>
            </a:r>
          </a:p>
          <a:p>
            <a:pPr marL="342900" indent="-342900">
              <a:buAutoNum type="arabicPeriod"/>
            </a:pPr>
            <a:r>
              <a:rPr lang="en-US" sz="1400" dirty="0"/>
              <a:t>DIRECTION OF RECOMMENDATION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Scale dataset to 10,000+ images to unlock the Hybrid model's advantage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Extend to multi-class: fire / smoke / smoldering / no-fire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Deploy </a:t>
            </a:r>
            <a:r>
              <a:rPr lang="en-US" sz="1400" dirty="0" err="1"/>
              <a:t>ViT</a:t>
            </a:r>
            <a:r>
              <a:rPr lang="en-US" sz="1400" dirty="0"/>
              <a:t> in safety-critical systems; Hybrid where false alarms are costly</a:t>
            </a:r>
          </a:p>
          <a:p>
            <a:pPr marL="800100" lvl="1" indent="-342900">
              <a:buAutoNum type="arabicPeriod"/>
            </a:pPr>
            <a:r>
              <a:rPr lang="en-US" sz="1400" dirty="0"/>
              <a:t>Pursue edge compression (pruning, quantization) for UAV deployment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41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3566160"/>
            <a:ext cx="5486400" cy="5486400"/>
          </a:xfrm>
          <a:prstGeom prst="ellipse">
            <a:avLst/>
          </a:prstGeom>
          <a:solidFill>
            <a:srgbClr val="0B35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-2286000"/>
            <a:ext cx="4572000" cy="4572000"/>
          </a:xfrm>
          <a:prstGeom prst="ellipse">
            <a:avLst/>
          </a:prstGeom>
          <a:solidFill>
            <a:srgbClr val="0B35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7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35728" y="5029200"/>
            <a:ext cx="1920240" cy="89154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ppt_review2/srm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328" y="5193792"/>
            <a:ext cx="1463040" cy="571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1909</TotalTime>
  <Words>2551</Words>
  <Application>Microsoft Macintosh PowerPoint</Application>
  <PresentationFormat>Widescreen</PresentationFormat>
  <Paragraphs>214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Patel, Dhvani</cp:lastModifiedBy>
  <cp:revision>2</cp:revision>
  <dcterms:created xsi:type="dcterms:W3CDTF">2026-09-29T09:12:57Z</dcterms:created>
  <dcterms:modified xsi:type="dcterms:W3CDTF">2026-10-05T08:03:05Z</dcterms:modified>
</cp:coreProperties>
</file>